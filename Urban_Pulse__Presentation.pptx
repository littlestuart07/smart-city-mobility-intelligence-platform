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60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root/work/urbanpulse/assets/dot_gri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-365760" y="5394960"/>
            <a:ext cx="438912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·  DATA VISUALIZATION PROJECT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6928" y="235915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Urban Pulse — Smart City Mobility Intelligence Platform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6928" y="272491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1 · DV-Team E   ·   Power BI Analytics   ·   Multimodal Mobility Data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66928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76656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76656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 MODULES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108960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218688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/ 04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218688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MILESTONES COMPLETE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50992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760720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760720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WEEK DELIVERY SPRINT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193024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302752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302752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DASHBOARD VIEWS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66928" y="4443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66928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94944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 &amp; Deepak Gavhane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83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Engineering &amp; Geospatial Analytics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108960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236976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Suyash Agrawaal </a:t>
            </a:r>
          </a:p>
          <a:p>
            <a:pPr>
              <a:lnSpc>
                <a:spcPct val="150000"/>
              </a:lnSpc>
            </a:pPr>
            <a:r>
              <a:rPr lang="en-US" sz="83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 Lead &amp; Project Management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650992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779008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Vaishnavi Gorakhanath Kshirsagar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83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Micromobility &amp; Equity Analysis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193024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000" b="1" dirty="0" err="1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Chandushree</a:t>
            </a: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 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85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&amp; Ride-Hailing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321040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66928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CITIES ANALYZED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1984248" y="5614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:  Bengaluru  ·  Delhi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·  Data Visualization Project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0945964C-9B00-9DF8-7F90-FB71DFB3BC25}"/>
              </a:ext>
            </a:extLst>
          </p:cNvPr>
          <p:cNvSpPr/>
          <p:nvPr/>
        </p:nvSpPr>
        <p:spPr>
          <a:xfrm>
            <a:off x="566928" y="932688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Image 0" descr="/root/work/urbanpulse/assets/network_motif.png">
            <a:extLst>
              <a:ext uri="{FF2B5EF4-FFF2-40B4-BE49-F238E27FC236}">
                <a16:creationId xmlns:a16="http://schemas.microsoft.com/office/drawing/2014/main" id="{51E5EF90-5F85-7E96-267D-CD8AACB35F6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>
            <a:off x="7589520" y="-822960"/>
            <a:ext cx="5486400" cy="405993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6878697-FC76-2902-973A-AD370610C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334816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STATEMENT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Urban Pulse?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data is abundant but fragmented — planners still lack one unified view of the city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Siloed Data Sources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Transit, ride-hailing, cycling and weather data are collected and managed independently, with no shared model.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0156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2958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958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4164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Cross-Modal View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4787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Analysts can't see how demand shifts between transit, ride-hailing and micromobility across the same trip.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3620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6422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6422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7628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Reactive, Not Predictive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251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forecasting or anomaly detection, agencies respond to congestion instead of anticipating it.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7084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9886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9886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1092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Equity Blind Spots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1715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Underserved neighborhoods and accessibility gaps go unmeasured without a common access index.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370332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1248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" y="4169664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unified smart-city mobility intelligence platform that integrates multimodal transportation data, weather information, demographic indicators, and geospatial datasets into one decision-support system — enabling city planners, transit operators, and administrators to monitor demand, evaluate equity, and forecast mobility trends through interactive dashboards.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6928" y="53492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multimodal data, disconnected.  We turned it into one integrated mobility-intelligence platform.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02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6CF2E87-F90E-FEBF-7B58-60505CA21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373" y="19779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 &amp; Deliverables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scope of what Urban Pulse delivers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739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Multimodal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transit, ride-hailing, cycling, weather &amp; demographic data into one model.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0832" y="1645920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98848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9884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10912" y="17739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17136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Power BI dashboards for demand, reliability and equity reporting.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74736" y="1645920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02752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0275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14816" y="17739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ETL Pipeline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21040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Ingest and refresh mobility datasets from multiple public sources automatically.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2980944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3127248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4944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07008" y="31089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" y="358444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Heatmaps, flow maps, accessibility isochrones and mobility-corridor visualization.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70832" y="2980944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98848" y="3127248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9884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10912" y="31089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Health Scoring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17136" y="358444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Access Index (MAI) and City Mobility Health Score for performance monitoring.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74736" y="2980944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02752" y="3127248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0275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14816" y="31089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Forecasting &amp; Anomaly Detection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21040" y="358444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demand trends and flag operational disruptions before they escalate.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4443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DELIVERABLES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6928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3232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Mobility Datamart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83280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29584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9-Page Power BI Dashboard Suite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99632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45936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PPT + Project Report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015984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62288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Repository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03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EB44346-E7F4-11FE-B066-5469DE8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698" y="19621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PLATFORM MODULES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Seven Analytics Modules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module is owned by a team track and feeds the shared mobility datamart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 &amp; standardize transit, ride-hailing, bike-share, weather and demographic data from 5 public sources.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23844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518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63924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Mobility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0148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Origin-destination flows, accessibility isochrones, congestion hotspot visualization.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08776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08776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Performance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27064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 metrics, schedule adherence, headway variance, route performance.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37676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65692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6569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77756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Ride-Hailing &amp; Demand Intelligence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83980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patterns, surge behavior, modal substitution, fare elasticity.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354787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94944" y="369417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944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07008" y="36758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Cycling &amp; Micromobility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" y="415137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Bike-share utilization, station availability, rebalancing prediction.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23844" y="354787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51860" y="369417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5186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963924" y="36758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Equity Analysis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70148" y="415137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Access Index (MAI), demographic accessibility comparison.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80760" y="354787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08776" y="369417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0877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20840" y="36758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Executive Intelligence &amp; Forecasting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27064" y="415137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City-wide mobility health metrics, trend forecasting, anomaly detection.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04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3EDCA0F-C79B-11F4-C191-C76590801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53" y="13468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Workflow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raw multimodal data to stakeholder decisions, in six stages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05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Image 0">
            <a:extLst>
              <a:ext uri="{FF2B5EF4-FFF2-40B4-BE49-F238E27FC236}">
                <a16:creationId xmlns:a16="http://schemas.microsoft.com/office/drawing/2014/main" id="{D81A47A6-3FEA-B4D0-7D6B-C6C61D6E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096" y="1865376"/>
            <a:ext cx="10801807" cy="422452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F34D127-4374-2E40-5D53-51E0CAEDE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293" y="13468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302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 → ETL &amp; modeling → analytics modules → visualization → stakeholders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06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Image 0">
            <a:extLst>
              <a:ext uri="{FF2B5EF4-FFF2-40B4-BE49-F238E27FC236}">
                <a16:creationId xmlns:a16="http://schemas.microsoft.com/office/drawing/2014/main" id="{61303328-693F-0F56-BE5F-525EBBFBA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927" y="1879092"/>
            <a:ext cx="8997041" cy="4370832"/>
          </a:xfrm>
          <a:prstGeom prst="rect">
            <a:avLst/>
          </a:prstGeom>
        </p:spPr>
      </p:pic>
      <p:sp>
        <p:nvSpPr>
          <p:cNvPr id="67" name="Text 5">
            <a:extLst>
              <a:ext uri="{FF2B5EF4-FFF2-40B4-BE49-F238E27FC236}">
                <a16:creationId xmlns:a16="http://schemas.microsoft.com/office/drawing/2014/main" id="{2506FE4F-271F-CCDB-9404-4FC1DA053EA1}"/>
              </a:ext>
            </a:extLst>
          </p:cNvPr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9D35F4A-A5B0-C269-7F17-F8CC7FDA1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968" y="12370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Schema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41046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 data warehouse — star schema design, 2 fact tables + 6 shared dimensions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07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Image 0">
            <a:extLst>
              <a:ext uri="{FF2B5EF4-FFF2-40B4-BE49-F238E27FC236}">
                <a16:creationId xmlns:a16="http://schemas.microsoft.com/office/drawing/2014/main" id="{C55A7A24-724A-B410-BF28-7E4E61A6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096" y="1959102"/>
            <a:ext cx="10801807" cy="422452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A941BD14-6F23-AD37-4EBD-D785F1847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415" y="78486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01 · WEEKS 1–2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Data Modeling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302" y="1212787"/>
            <a:ext cx="5074920" cy="4871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  <a:spcAft>
                <a:spcPts val="1300"/>
              </a:spcAft>
              <a:buSzPct val="100000"/>
            </a:pPr>
            <a:endParaRPr lang="en-US" sz="1400" dirty="0">
              <a:solidFill>
                <a:srgbClr val="1A2B3C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Connected 5 data sources — GitHub, GTFS feeds, government handbooks, Kaggle and Open-Meteo — spanning transit, ride-hailing, traffic, weather and demographic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Integrated 6 core datasets — Demographics, Metro, Ride-Hailing, Traffic, Transit and Weather — across the 2 cities in scope, Bengaluru and Delhi.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Reached 100% integration status: every dataset validated and confirmed in the integration tracker before downstream analytics began.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Assessed overall data quality as Moderate, flagging the checks the team prioritized before building dashboards on top of the datamart.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Designed a star-schema data model — Fact_Trip, Fact_Transit_Event and shared dimension tables — to support this level of cross-domain analysis</a:t>
            </a: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1888" y="1417320"/>
            <a:ext cx="5662879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89904" y="5861304"/>
            <a:ext cx="5406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Integration Dashboard — 5 sources, 6 datasets, 100% integration status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08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CB7690-F7FD-0AFC-8F37-2D27EF5CE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21" y="13335"/>
            <a:ext cx="1657350" cy="12668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41C609-2EA8-35E4-A6D9-8A30BCB36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545336"/>
            <a:ext cx="5406847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02 · WEEKS 3–4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&amp; Transit Analytics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07492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endParaRPr lang="en-US" sz="1400" dirty="0">
              <a:solidFill>
                <a:srgbClr val="1A2B3C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Mapped Bengaluru's full bus-stop and metro-station network, with interactive zoom and pan.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Ranked the busiest stops (Top 15) to flag high-demand pickup and interchange points.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Broke down metro ridership share by line — Green, Purple and Yellow — with station-level detail.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Added Bus Stop Name and Metro Line filters for multi-level, on-demand geographic drill-down.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Delivered map-based views for both the bus network (4K+ routes) and the metro network side by side on one page.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1888" y="1417320"/>
            <a:ext cx="5662879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smart_mobility_ge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9904" y="1545336"/>
            <a:ext cx="5406847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9904" y="5861304"/>
            <a:ext cx="5406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Smart Mobility Dashboard — bus &amp; metro stop network, busiest stops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‘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09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B450B-600B-910B-5460-04F7947F5B58}"/>
              </a:ext>
            </a:extLst>
          </p:cNvPr>
          <p:cNvSpPr txBox="1"/>
          <p:nvPr/>
        </p:nvSpPr>
        <p:spPr>
          <a:xfrm>
            <a:off x="394399" y="6552566"/>
            <a:ext cx="609456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0FD21D-7B32-0F74-6119-4F847D187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167" y="82296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03 · WEEKS 5–6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Intelligence &amp; Mobility Analytics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07492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endParaRPr lang="en-US" sz="1400" dirty="0">
              <a:solidFill>
                <a:srgbClr val="1A2B3C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Tracked bike and e-scooter trip demand across operators — Bounce and Yulu — split by weekday vs weekend.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Analyzed trip-demand patterns by hour and revenue/fare trends across the year.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Compared vehicle-type usage (bicycle, e-scooter, e-bike) and trip distance vs fare by operator.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Monitored station-level rebalancing status (OK / overstocked / understocked) and rain impact on trips.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Surfaced two sharp daily demand peaks — morning and evening commute windows — to guide fleet rebalancing.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1888" y="1417320"/>
            <a:ext cx="5662879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ride_hail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9904" y="1545336"/>
            <a:ext cx="5406847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9904" y="5861304"/>
            <a:ext cx="5406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Ride-Hailing Dashboard — Bounce &amp; Yulu bike/e-scooter trip demand, fare trend &amp; rebalancing status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7917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10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9BB834-E228-CDC0-1EFA-43889C8F4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853" y="8191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04 · WEEKS 7–8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Equity, Forecasting &amp; Finalization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07492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endParaRPr lang="en-US" sz="1400" dirty="0">
              <a:solidFill>
                <a:srgbClr val="1A2B3C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the City Mobility Health Score (84.6%) — a single KPI combining transit, traffic and weather signals.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Tracked congestion score, average speed and daily ridership alongside citywide bus-stop and route coverage.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Rolled up weather conditions — humidity, rainfall, temperature — into the executive mobility-status read-out ('Good').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Summarized city-wide performance into plain-language key insights for non-technical stakeholders.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300"/>
              </a:spcAft>
              <a:buSzPct val="100000"/>
              <a:buChar char="–"/>
            </a:pPr>
            <a:r>
              <a:rPr lang="en-US" sz="14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Delivered a single-page executive rollup covering 8K bus stops and 4K routes for citywide oversight.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1888" y="1417320"/>
            <a:ext cx="5662879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executive_intellig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9904" y="1545336"/>
            <a:ext cx="5406847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9904" y="5861304"/>
            <a:ext cx="5406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Executive Intelligence Dashboard — Mobility Health Score 84.6%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11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3CAA78-6896-4464-CD36-FA528C229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167" y="-2477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DEEP-DIVE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Smart Mobility Intelligence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single-page view that fuses population, weather and traffic signals for the whole city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98932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smart_mobility_int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865376"/>
            <a:ext cx="5733288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312664"/>
            <a:ext cx="5733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Mobility Intelligence Dashboard — population, weather &amp; traffic overview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76288" y="1737360"/>
            <a:ext cx="4748479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Layers four independent domains — population (48M), traffic volume (29.24K), rainfall (2.3mm) and metro ridership (340M) — onto one canvas.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weather-vs-speed chart shows average speed holding steady near 39 km/h all year, largely unaffected by humidity or rainfall swings.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Population-density bars single out Bangalore North (7.7K/sq km) as the city's densest — and highest-priority — district for transit investment.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usage-vs-congestion scatter cross-references incident reports against ridership to surface corridors needing both service and safety attention.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90.9% urban population share reinforces why the platform is built mobility-first, not roads-first.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76288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86016" y="4965192"/>
            <a:ext cx="12780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48M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86016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POPULATION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501786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11514" y="4965192"/>
            <a:ext cx="12780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90.9%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11514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URBAN POPULATION SHARE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127285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237013" y="4965192"/>
            <a:ext cx="12780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340M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237013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METRO RIDERSHIP TRACKED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12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4159BC-F082-3167-71E3-D62688986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285" y="3162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DEEP-DIVE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Transit Analytics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Weather, routes and payments — the operational pulse of the bus network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35447" y="1737360"/>
            <a:ext cx="598932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transit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3463" y="1865376"/>
            <a:ext cx="5733288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3463" y="5312664"/>
            <a:ext cx="5733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Analytics Dashboard — weather impact, top stops &amp; payment mode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4748479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temperature-trend chart tracks Bengaluru's min/max range narrowing into 2026, giving planners a seasonal baseline for service planning.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60.7% of tracked days are clear weather, with rain (14.5%), overcast (10.7%) and fog (9.3%) making up the rest — each with a measurable ridership effect.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Top-15 busy-stops ranking, led by Maruthi Nagara and Lakshmipura, flags where extra buses or shelters would help most.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weather-impact-on-ridership chart lines up temperature and humidity against metro ridership day by day, isolating weather-driven demand swings.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payment-mode split shows a near-even mix with one mode narrowly leading, pointing to where fare-collection modernization has the most reach.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6656" y="4965192"/>
            <a:ext cx="127802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65.2%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6656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HUMIDITY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92426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02154" y="4965192"/>
            <a:ext cx="127802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39.4 km/h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302154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SPEED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17925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27653" y="4965192"/>
            <a:ext cx="127802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927653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STOPS RANKED BY DEMAND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13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39C6A78-CC1B-5FE8-AD84-54A0A4AC8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623" y="15049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DEEP-DIVE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Traffic Analytics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302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Congestion, road capacity and incidents across the city's busiest corridors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98932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traffic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865376"/>
            <a:ext cx="5733288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312664"/>
            <a:ext cx="5733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 Analytics Dashboard — volume, congestion &amp; road-capacity utilization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76288" y="1737360"/>
            <a:ext cx="4748479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congestion sits at 80.8% with 14K total incident reports logged — the two headline numbers that define where intervention is most urgent.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traffic-volume trend climbs steadily from January through August before easing into year-end, a pattern worth planning maintenance around.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Congestion-by-area bars single out Indiranagar and M.G. Road as the most congested corridors in the combined congestion and parking-usage load.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road-capacity-utilization ranking tops out at CMH Road and 100 Feet Road — the clearest candidates for capacity expansion.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congestion occurs on clear-weather days (60.7%), confirming this is primarily a demand problem, not a weather problem.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76288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86016" y="4965192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80.8%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86016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CONGESTION SCORE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501786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11514" y="4965192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11514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INCIDENT REPORTS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127285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237013" y="4965192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29.24K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237013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TRAFFIC VOLUME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14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99E8421-E6E5-628D-6A20-5804C171B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285" y="98107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DEEP-DIVE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Metro Analytics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Ticketing behavior and ridership trends across the metro network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35447" y="1737360"/>
            <a:ext cx="598932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metro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3463" y="1865376"/>
            <a:ext cx="5733288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3463" y="5312664"/>
            <a:ext cx="5733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Metro Analytics Dashboard — ridership trend, ticket &amp; pass types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4748479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340M total metro rides are logged, split 76.6% physical ticket vs 23.4% digital — the clearest digitization opportunity the platform surfaces.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daily-ridership trend stays flat around 0.9–1.0M riders across the tracked window, pointing to a mature, saturated ridership base.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Smart-card usage consistently runs ahead of token/QR use, though neither channel is dominant yet.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Day passes (33.0%) and Group tickets (33.7%) together make up two-thirds of all passes sold — a signal for multi-day pricing opportunities.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ticketing patterns feed directly into the Executive Intelligence dashboard's ridership and mobility-health KPIs.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6656" y="4965192"/>
            <a:ext cx="12780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340M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6656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METRO RIDERSHIP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92426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02154" y="4965192"/>
            <a:ext cx="127802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76.6%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302154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TICKET SHARE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17925" y="4892040"/>
            <a:ext cx="149748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27653" y="4965192"/>
            <a:ext cx="127802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927653" y="5301691"/>
            <a:ext cx="1278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kern="0" spc="3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 TYPES TRACKED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15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C6CF49-233D-FF8E-9809-E83EC7114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117" y="98107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COMPARATIVE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Cross-City Benchmarking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Comparative mobility health — Delhi vs Bengaluru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79552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delhi_vs_bengalur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755648"/>
            <a:ext cx="7699248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843016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Delhi vs Bengaluru — comparative mobility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814816" y="1627632"/>
            <a:ext cx="2809951" cy="4526280"/>
          </a:xfrm>
          <a:prstGeom prst="roundRect">
            <a:avLst>
              <a:gd name="adj" fmla="val 260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97696" y="1810512"/>
            <a:ext cx="2444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997696" y="2139696"/>
            <a:ext cx="2444191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Bengaluru's Mobility Health Score (84.6%) reflects a denser metro + bus network across a larger population base (48M vs 17M).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posts a higher average travel speed (39.4 km/h) than Delhi (28.1 km/h) in this sample corridor set.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Delhi's metro ridership skews toward the Purple and Yellow lines; Bengaluru's Green and Purple lines dominate.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Cross-city benchmarking helps prioritize which mobility interventions transfer well between metros.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16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D032CD-2FAC-F2B0-4067-D9E0A3783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503" y="56579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SYNTHESIS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Insights &amp; Business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numbers add up to, why it matters, and what we recommend doing about it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7739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ticketing still dominates the metro (76.6%).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Slower boarding, thinner ridership data and higher cash-handling overhead for operators.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26440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 digital-ticket incentives to cut queue times and boost data granularity.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70832" y="164592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35424" y="17739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35424" y="193852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Bangalore North is the densest, highest-demand district.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24505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35424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Under-investment here compounds overcrowding faster than in any other zone.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35424" y="310896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35424" y="326440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Front-load transit and micromobility infrastructure investment here first.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74736" y="164592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39328" y="17739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39328" y="193852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Congestion averages 80.8% with 14K incidents logged.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39328" y="24505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39328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corridors account for a disproportionate share of delays and safety risk.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39328" y="310896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39328" y="326440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CMH Road and 100 Feet Road first for capacity and safety upgrades.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3959352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0873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251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has a measurable but moderate effect on mobility.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4764024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491947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schedules over- or under-provision service on atypical-weather days.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5422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5577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weather-adjusted forecasting rather than static, fixed schedules.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70832" y="3959352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35424" y="40873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35424" y="4251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Bike &amp; e-scooter demand peaks sharply at two daily windows.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35424" y="4764024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35424" y="491947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rebalancing timers leave fleets empty or overstocked outside peak hours.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35424" y="5422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35424" y="5577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Shift to dynamic fleet rebalancing around commute peaks, not fixed timers.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74736" y="3959352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339328" y="40873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39328" y="4251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Bengaluru's Mobility Health Score (84.6%) leads the benchmark.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39328" y="4764024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39328" y="491947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underlying data model has already proven itself at city scale.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339328" y="5422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339328" y="5577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Bengaluru's data model as the template for future city rollouts.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17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7C4BAA0-AD2B-A21E-89FD-C7397914E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698" y="56579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THE HOOD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tools and platforms powering Urban Pulse, end to 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73936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494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transit, ride-hailing, bike-share, weather and demographic data ingested from five external sources.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2798064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2999232"/>
            <a:ext cx="71689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2999232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521562" y="2999232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76426" y="29992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GTFS Feeds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00554" y="2999232"/>
            <a:ext cx="1258214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55418" y="2999232"/>
            <a:ext cx="11484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Open-Meteo API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50208" y="29992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05072" y="29992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Govt. Handbooks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" y="3346704"/>
            <a:ext cx="71689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346704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90488" y="16459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18504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1850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30568" y="1773936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Preparation &amp; Modeling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6792" y="22494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Schema standardization, cleansing and star-schema modeling before analytics begins.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36792" y="2798064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6792" y="2999232"/>
            <a:ext cx="1055218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91656" y="2999232"/>
            <a:ext cx="945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Query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83450" y="2999232"/>
            <a:ext cx="1055218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38314" y="2999232"/>
            <a:ext cx="945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 Schema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30107" y="2999232"/>
            <a:ext cx="1122883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4971" y="2999232"/>
            <a:ext cx="1013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DAX Measures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844430" y="2999232"/>
            <a:ext cx="159654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99294" y="2999232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Incremental Refresh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399592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94944" y="4142232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4944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07008" y="4123944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Visualization &amp; BI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45994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Nine interactive Power BI dashboards, one for every analytics module in the platform.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3232" y="5148072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3232" y="5349240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8096" y="5349240"/>
            <a:ext cx="128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Desktop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198218" y="5349240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253082" y="5349240"/>
            <a:ext cx="128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Service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83203" y="53492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738067" y="534924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Maps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13232" y="5696712"/>
            <a:ext cx="1190549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68096" y="5696712"/>
            <a:ext cx="10808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Drill-Through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190488" y="399592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18504" y="4142232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18504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30568" y="4123944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Collaboration &amp; Delivery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36792" y="45994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Agile, sprint-based delivery across four milestones with shared version control.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36792" y="5148072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336792" y="5349240"/>
            <a:ext cx="71689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91656" y="5349240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145122" y="5349240"/>
            <a:ext cx="1190549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199986" y="5349240"/>
            <a:ext cx="10808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 Sprints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427110" y="5349240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481974" y="53492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PowerPoint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506102" y="5349240"/>
            <a:ext cx="159654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560966" y="5349240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 Reviews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18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5E5EC542-6F7F-61CB-E525-E36BBC6A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105" y="474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TEAM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&amp; Responsibilities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DV-Team E · Group 1 · 5-student, 8-week sprint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4088" y="1764792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25296" y="1792224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Engineer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25296" y="202996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 / Deepak Gavhane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" y="2432304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Integration · Database / Star Schema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2834640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Collected &amp; standardized transit, ride-hailing, bike-share, weather and demographic data; built ETL pipelines with incremental refresh; designed and loaded the star schema; ensured data-quality thresholds were met.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07738" y="164592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44898" y="1764792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4489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6106" y="1792224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Analyst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66106" y="202996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 / Deepak Gavhane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90618" y="2432304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Mobility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90618" y="2834640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origin-destination flow analysis, accessibility &amp; isochrone maps, congestion hotspot visualization, geographic drill-down and weather overlays.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48549" y="164592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85709" y="1764792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85709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06917" y="1792224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&amp; Ride-Hailing Analyst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06917" y="202996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dirty="0" err="1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Chandushree</a:t>
            </a: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 B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31429" y="2432304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Performance Analytics · Ride-Hailing &amp; Demand Intelligence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31429" y="2834640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Calculated reliability metrics, schedule adherence and headway variance; analyzed ride-hailing demand, surge behavior, modal substitution and fare elasticity.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437333" y="3959352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74493" y="4078224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74493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095701" y="4105656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Micromobility &amp; Equity Analyst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095701" y="4343400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Vaishnavi Gorakhanath Kshirsagar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20213" y="4745736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Cycling &amp; Micromobility Analytics · Mobility Equity Analysis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20213" y="5148072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Tracked bike-share utilization &amp; station availability, predicted rebalancing needs; calculated the Mobility Access Index (MAI) and identified underserved neighborhoods.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78144" y="3959352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15304" y="4078224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15304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36512" y="4105656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 Lead / Project Manager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36512" y="4343400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Suyash Agrawaal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61024" y="4745736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Executive Intelligence &amp; Forecasting · Project Coordination &amp; QA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61024" y="5148072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the City Mobility Health Score, forecasting &amp; anomaly detection, executive dashboards; coordinated sprint planning, integration testing and stakeholder reporting.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19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D8F4640-B9F1-2CED-0079-EA39417BB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382" y="105922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RETROSPECTIVE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&amp; Solutions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issues encountered during the sprint and how the team resolved them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" y="1773936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956816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Heterogeneous Data Formats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 independent sources — GTFS feeds, ride-hailing exports, bike-share logs and weather APIs — each shipped different schemas, units and identifiers, risking silent data-quality errors downstream.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06160" y="1773936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06160" y="1956816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a standardized schema-mapping layer and automated cleansing workflows before loading into the shared star schema, so every dashboard reads from one validated source of truth.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834640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2944368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" y="3127248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Defining a Fair Mobility Access Index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096" y="3364992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Comparing accessibility across demographic groups needed a normalized, defensible scoring method — an ad-hoc metric would have undermined the equity findings.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6160" y="2944368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6160" y="3127248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Benchmarked MAI against transit frequency, walk-time and income-quintile data to produce a normalized 0–100 score city planners can act on directly.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" y="4005072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096" y="4114800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4297680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Performance at Scale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4535424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Trip-level and transit-event-level fact tables grew large enough to slow interactive filtering, threatening the responsiveness executives expect from a live dashboard.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6160" y="4114800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6160" y="4297680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Optimized the star schema with incremental refresh and pre-aggregated tables, keeping every executive-level view fast under real data volumes.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" y="5175504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096" y="5285232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096" y="5468112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Coordinating Five Parallel Tracks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8096" y="5705856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 module owners working independently on a tight 8-week timeline risked integration drift between datasets, naming conventions and delivery dates.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6160" y="5285232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6160" y="5468112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 weekly sprint check-ins against a shared milestone tracker, catching integration gaps early and keeping all four milestones on schedule.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20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471AE71-B9B8-4CE3-736A-EDF25098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250" y="84011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WHAT'S NEXT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Urban Pulse goes beyond this 8-week sprint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02336" cy="402336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43584" y="178308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 to More Cities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81728" y="1783080"/>
            <a:ext cx="6760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 the same data model beyond Bengaluru and Delhi to additional Tier-1 and Tier-2 Indian cities.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2478024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402336" cy="402336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43584" y="256946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Data Refresh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81728" y="2569464"/>
            <a:ext cx="6760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from batch-based ETL to streaming refresh so dashboards reflect live operational conditions.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3264408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401568"/>
            <a:ext cx="402336" cy="402336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43584" y="335584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Equity Scorecard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81728" y="3355848"/>
            <a:ext cx="6760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Publish the Mobility Access Index as a public-facing scorecard for city administrators and residents.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4050792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402336" cy="402336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43584" y="414223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Predictive Maintenance Alerts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81728" y="4142232"/>
            <a:ext cx="6760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 anomaly detection directly into transit-operator workflows and real-time alerting.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4837176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" y="4974336"/>
            <a:ext cx="402336" cy="402336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43584" y="492861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Citizen-Facing Companion App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81728" y="4928616"/>
            <a:ext cx="6760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 personalized, MAI-aware route recommendations for everyday commuters.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6928" y="5623560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1520" y="5760720"/>
            <a:ext cx="402336" cy="402336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5760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43584" y="571500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 Data &amp; API Access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81728" y="5715000"/>
            <a:ext cx="6760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Publish anonymized mobility datasets via a public API for researchers and civic-tech partners.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21 / 22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89F8C0D-F687-FA41-1B66-D5EA82A6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76" y="13468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urbanpulse/assets/network_motif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7772400" y="-731520"/>
            <a:ext cx="5120640" cy="5120640"/>
          </a:xfrm>
          <a:prstGeom prst="rect">
            <a:avLst/>
          </a:prstGeom>
        </p:spPr>
      </p:pic>
      <p:pic>
        <p:nvPicPr>
          <p:cNvPr id="3" name="Image 1" descr="/root/work/urbanpulse/assets/dot_grid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-365760" y="5212080"/>
            <a:ext cx="420624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66928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6928" y="19385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 ·  Urban Pulse — Smart City Mobility Intelligence Platform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6928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We'd love to answer your questions.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66928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66928" y="3291840"/>
            <a:ext cx="1721053" cy="786384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0080" y="3401568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76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Engineer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434285" y="3291840"/>
            <a:ext cx="1721053" cy="786384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07437" y="3401568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Deepak Gavhane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76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Analyst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301642" y="3291840"/>
            <a:ext cx="1721053" cy="786384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374794" y="3401568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100" b="1" dirty="0" err="1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Chandushree</a:t>
            </a: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 B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lang="en-US" sz="8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&amp; Ride-Hailing Analyst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endParaRPr lang="en-US" sz="800" dirty="0">
              <a:solidFill>
                <a:srgbClr val="5B6B7C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169000" y="3291840"/>
            <a:ext cx="1721053" cy="786384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242152" y="3401568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Suyash Agrawaal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lang="en-US" sz="8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 Lead / Project Manager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spcBef>
                <a:spcPts val="300"/>
              </a:spcBef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036358" y="3291840"/>
            <a:ext cx="2384352" cy="786384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Vaishnavi </a:t>
            </a:r>
            <a:r>
              <a:rPr lang="en-US" sz="1100" b="1" dirty="0" err="1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Gorakhanath</a:t>
            </a: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Kshirsagar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lang="en-US" sz="8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Micromobility &amp; Equity Analyst</a:t>
            </a:r>
          </a:p>
        </p:txBody>
      </p:sp>
      <p:sp>
        <p:nvSpPr>
          <p:cNvPr id="18" name="Text 14"/>
          <p:cNvSpPr/>
          <p:nvPr/>
        </p:nvSpPr>
        <p:spPr>
          <a:xfrm>
            <a:off x="8109509" y="3401568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976866" y="3401568"/>
            <a:ext cx="15747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spcBef>
                <a:spcPts val="300"/>
              </a:spcBef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66928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DELIVERABLES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66928" y="4956048"/>
            <a:ext cx="26410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76656" y="4956048"/>
            <a:ext cx="242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Mobility Datamart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372536" y="4956048"/>
            <a:ext cx="26410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3482264" y="4956048"/>
            <a:ext cx="242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Dashboard (9 pages)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178144" y="4956048"/>
            <a:ext cx="26410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287872" y="4956048"/>
            <a:ext cx="242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PPT Report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8983751" y="4956048"/>
            <a:ext cx="26410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9093479" y="4956048"/>
            <a:ext cx="242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Repository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·  Data Visualization Project  ·  August 2026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CF430B-1A7B-229C-974B-59BB8F2E9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623" y="2419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3263</Words>
  <Application>Microsoft Office PowerPoint</Application>
  <PresentationFormat>Widescreen</PresentationFormat>
  <Paragraphs>437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Suyash Agrawaal</cp:lastModifiedBy>
  <cp:revision>5</cp:revision>
  <dcterms:created xsi:type="dcterms:W3CDTF">2026-08-24T15:05:55Z</dcterms:created>
  <dcterms:modified xsi:type="dcterms:W3CDTF">2026-09-02T10:25:18Z</dcterms:modified>
</cp:coreProperties>
</file>